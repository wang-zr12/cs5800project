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8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9" r:id="rId13"/>
    <p:sldId id="265" r:id="rId14"/>
    <p:sldId id="280" r:id="rId15"/>
    <p:sldId id="266" r:id="rId16"/>
    <p:sldId id="267" r:id="rId17"/>
    <p:sldId id="264" r:id="rId18"/>
    <p:sldId id="268" r:id="rId19"/>
    <p:sldId id="281" r:id="rId20"/>
    <p:sldId id="269" r:id="rId21"/>
    <p:sldId id="282" r:id="rId22"/>
    <p:sldId id="270" r:id="rId23"/>
    <p:sldId id="271" r:id="rId24"/>
    <p:sldId id="274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GIF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1.GIF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25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.jpeg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image" Target="../media/image5.jpe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4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jpeg"/><Relationship Id="rId3" Type="http://schemas.openxmlformats.org/officeDocument/2006/relationships/tags" Target="../tags/tag49.xml"/><Relationship Id="rId2" Type="http://schemas.openxmlformats.org/officeDocument/2006/relationships/image" Target="../media/image11.jpeg"/><Relationship Id="rId1" Type="http://schemas.openxmlformats.org/officeDocument/2006/relationships/tags" Target="../tags/tag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2" Type="http://schemas.openxmlformats.org/officeDocument/2006/relationships/notesSlide" Target="../notesSlides/notesSlide16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3" Type="http://schemas.openxmlformats.org/officeDocument/2006/relationships/notesSlide" Target="../notesSlides/notesSlide17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tags" Target="../tags/tag70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tags" Target="../tags/tag9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6" Type="http://schemas.openxmlformats.org/officeDocument/2006/relationships/notesSlide" Target="../notesSlides/notesSlide20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98080" y="365760"/>
            <a:ext cx="256032" cy="256032"/>
          </a:xfrm>
          <a:prstGeom prst="ellipse">
            <a:avLst/>
          </a:prstGeom>
          <a:solidFill>
            <a:srgbClr val="1B7F8E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856" y="960120"/>
            <a:ext cx="256032" cy="256032"/>
          </a:xfrm>
          <a:prstGeom prst="ellipse">
            <a:avLst/>
          </a:prstGeom>
          <a:solidFill>
            <a:srgbClr val="02C39A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30665" y="1554480"/>
            <a:ext cx="256032" cy="256032"/>
          </a:xfrm>
          <a:prstGeom prst="ellipse">
            <a:avLst/>
          </a:prstGeom>
          <a:solidFill>
            <a:srgbClr val="1B7F8E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9696" y="2148840"/>
            <a:ext cx="256032" cy="256032"/>
          </a:xfrm>
          <a:prstGeom prst="ellipse">
            <a:avLst/>
          </a:prstGeom>
          <a:solidFill>
            <a:srgbClr val="02C39A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1272" y="2743200"/>
            <a:ext cx="256032" cy="256032"/>
          </a:xfrm>
          <a:prstGeom prst="ellipse">
            <a:avLst/>
          </a:prstGeom>
          <a:solidFill>
            <a:srgbClr val="1B7F8E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8379" y="4526280"/>
            <a:ext cx="256032" cy="256032"/>
          </a:xfrm>
          <a:prstGeom prst="ellipse">
            <a:avLst/>
          </a:prstGeom>
          <a:solidFill>
            <a:srgbClr val="02C39A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058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Sequence Alignment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2C39A"/>
                </a:solidFill>
              </a:rPr>
              <a:t>with Needleman-Wunsch  and  Smith-Waterman</a:t>
            </a:r>
            <a:endParaRPr lang="en-US" sz="2400" dirty="0">
              <a:solidFill>
                <a:srgbClr val="02C39A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5029200" cy="0"/>
          </a:xfrm>
          <a:prstGeom prst="line">
            <a:avLst/>
          </a:prstGeom>
          <a:noFill/>
          <a:ln w="19050">
            <a:solidFill>
              <a:srgbClr val="1B7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871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Dynamic Programming · CS 5800 Final Project</a:t>
            </a:r>
            <a:endParaRPr lang="en-US" sz="1400" dirty="0">
              <a:solidFill>
                <a:srgbClr val="E2E8F0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Presenter: Yuqing Xu, Zirui Wang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" y="47548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Northeastern University  ·  Spring 2026 </a:t>
            </a:r>
            <a:r>
              <a:rPr lang="en-US" sz="1200" dirty="0">
                <a:solidFill>
                  <a:srgbClr val="64748B"/>
                </a:solidFill>
                <a:sym typeface="+mn-ea"/>
              </a:rPr>
              <a:t>· April 16th</a:t>
            </a:r>
            <a:r>
              <a:rPr lang="en-US" sz="1200" dirty="0">
                <a:solidFill>
                  <a:srgbClr val="64748B"/>
                </a:solidFill>
              </a:rPr>
              <a:t> </a:t>
            </a:r>
            <a:endParaRPr lang="en-US" sz="1200" dirty="0"/>
          </a:p>
        </p:txBody>
      </p:sp>
      <p:sp>
        <p:nvSpPr>
          <p:cNvPr id="31" name="Shape 2"/>
          <p:cNvSpPr/>
          <p:nvPr/>
        </p:nvSpPr>
        <p:spPr>
          <a:xfrm>
            <a:off x="7020996" y="3401695"/>
            <a:ext cx="256032" cy="256032"/>
          </a:xfrm>
          <a:prstGeom prst="ellipse">
            <a:avLst/>
          </a:prstGeom>
          <a:solidFill>
            <a:srgbClr val="02C39A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5"/>
          <p:cNvSpPr/>
          <p:nvPr/>
        </p:nvSpPr>
        <p:spPr>
          <a:xfrm>
            <a:off x="7221272" y="4060190"/>
            <a:ext cx="256032" cy="256032"/>
          </a:xfrm>
          <a:prstGeom prst="ellipse">
            <a:avLst/>
          </a:prstGeom>
          <a:solidFill>
            <a:srgbClr val="1B7F8E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2742757" y="1132999"/>
            <a:ext cx="3658436" cy="416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sz="2025" b="1" spc="405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TABLE OF CONTENTS</a:t>
            </a:r>
            <a:endParaRPr sz="2025" b="1" spc="405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"/>
            </p:custDataLst>
          </p:nvPr>
        </p:nvSpPr>
        <p:spPr>
          <a:xfrm>
            <a:off x="1885950" y="2021681"/>
            <a:ext cx="285750" cy="28575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120 w 600"/>
              <a:gd name="p0y0" fmla="*/ 0 h 600"/>
              <a:gd name="p0x1" fmla="*/ 480 w 600"/>
              <a:gd name="p0y1" fmla="*/ 0 h 600"/>
              <a:gd name="p0x2" fmla="*/ 546 w 600"/>
              <a:gd name="p0y2" fmla="*/ 0 h 600"/>
              <a:gd name="p0x3" fmla="*/ 600 w 600"/>
              <a:gd name="p0y3" fmla="*/ 53 h 600"/>
              <a:gd name="p0x4" fmla="*/ 600 w 600"/>
              <a:gd name="p0y4" fmla="*/ 120 h 600"/>
              <a:gd name="p0x5" fmla="*/ 600 w 600"/>
              <a:gd name="p0y5" fmla="*/ 480 h 600"/>
              <a:gd name="p0x6" fmla="*/ 600 w 600"/>
              <a:gd name="p0y6" fmla="*/ 546 h 600"/>
              <a:gd name="p0x7" fmla="*/ 546 w 600"/>
              <a:gd name="p0y7" fmla="*/ 600 h 600"/>
              <a:gd name="p0x8" fmla="*/ 480 w 600"/>
              <a:gd name="p0y8" fmla="*/ 600 h 600"/>
              <a:gd name="p0x9" fmla="*/ 120 w 600"/>
              <a:gd name="p0y9" fmla="*/ 600 h 600"/>
              <a:gd name="p0x10" fmla="*/ 53 w 600"/>
              <a:gd name="p0y10" fmla="*/ 600 h 600"/>
              <a:gd name="p0x11" fmla="*/ 0 w 600"/>
              <a:gd name="p0y11" fmla="*/ 546 h 600"/>
              <a:gd name="p0x12" fmla="*/ 0 w 600"/>
              <a:gd name="p0y12" fmla="*/ 480 h 600"/>
              <a:gd name="p0x13" fmla="*/ 0 w 600"/>
              <a:gd name="p0y13" fmla="*/ 120 h 600"/>
              <a:gd name="p0x14" fmla="*/ 0 w 600"/>
              <a:gd name="p0y14" fmla="*/ 53 h 600"/>
              <a:gd name="p0x15" fmla="*/ 53 w 600"/>
              <a:gd name="p0y15" fmla="*/ 0 h 600"/>
              <a:gd name="p0x16" fmla="*/ 120 w 60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1989142" y="2059544"/>
            <a:ext cx="207897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2314575" y="2033825"/>
            <a:ext cx="914457" cy="257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Algorithm</a:t>
            </a:r>
            <a:endParaRPr sz="124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5"/>
            </p:custDataLst>
          </p:nvPr>
        </p:nvSpPr>
        <p:spPr>
          <a:xfrm>
            <a:off x="6944783" y="2059544"/>
            <a:ext cx="613305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(Part 1)</a:t>
            </a:r>
            <a:endParaRPr sz="101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6"/>
            </p:custDataLst>
          </p:nvPr>
        </p:nvSpPr>
        <p:spPr>
          <a:xfrm>
            <a:off x="1885950" y="2564606"/>
            <a:ext cx="285750" cy="28575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120 w 600"/>
              <a:gd name="p0y0" fmla="*/ 0 h 600"/>
              <a:gd name="p0x1" fmla="*/ 480 w 600"/>
              <a:gd name="p0y1" fmla="*/ 0 h 600"/>
              <a:gd name="p0x2" fmla="*/ 546 w 600"/>
              <a:gd name="p0y2" fmla="*/ 0 h 600"/>
              <a:gd name="p0x3" fmla="*/ 600 w 600"/>
              <a:gd name="p0y3" fmla="*/ 53 h 600"/>
              <a:gd name="p0x4" fmla="*/ 600 w 600"/>
              <a:gd name="p0y4" fmla="*/ 120 h 600"/>
              <a:gd name="p0x5" fmla="*/ 600 w 600"/>
              <a:gd name="p0y5" fmla="*/ 480 h 600"/>
              <a:gd name="p0x6" fmla="*/ 600 w 600"/>
              <a:gd name="p0y6" fmla="*/ 546 h 600"/>
              <a:gd name="p0x7" fmla="*/ 546 w 600"/>
              <a:gd name="p0y7" fmla="*/ 600 h 600"/>
              <a:gd name="p0x8" fmla="*/ 480 w 600"/>
              <a:gd name="p0y8" fmla="*/ 600 h 600"/>
              <a:gd name="p0x9" fmla="*/ 120 w 600"/>
              <a:gd name="p0y9" fmla="*/ 600 h 600"/>
              <a:gd name="p0x10" fmla="*/ 53 w 600"/>
              <a:gd name="p0y10" fmla="*/ 600 h 600"/>
              <a:gd name="p0x11" fmla="*/ 0 w 600"/>
              <a:gd name="p0y11" fmla="*/ 546 h 600"/>
              <a:gd name="p0x12" fmla="*/ 0 w 600"/>
              <a:gd name="p0y12" fmla="*/ 480 h 600"/>
              <a:gd name="p0x13" fmla="*/ 0 w 600"/>
              <a:gd name="p0y13" fmla="*/ 120 h 600"/>
              <a:gd name="p0x14" fmla="*/ 0 w 600"/>
              <a:gd name="p0y14" fmla="*/ 53 h 600"/>
              <a:gd name="p0x15" fmla="*/ 53 w 600"/>
              <a:gd name="p0y15" fmla="*/ 0 h 600"/>
              <a:gd name="p0x16" fmla="*/ 120 w 60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989142" y="2602469"/>
            <a:ext cx="207897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2314575" y="2576750"/>
            <a:ext cx="3532470" cy="257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Correctness Verification of Implementation</a:t>
            </a:r>
            <a:endParaRPr sz="124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6944783" y="2602469"/>
            <a:ext cx="613305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(Part 2)</a:t>
            </a:r>
            <a:endParaRPr sz="101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10"/>
            </p:custDataLst>
          </p:nvPr>
        </p:nvSpPr>
        <p:spPr>
          <a:xfrm>
            <a:off x="1885950" y="3107531"/>
            <a:ext cx="285750" cy="28575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120 w 600"/>
              <a:gd name="p0y0" fmla="*/ 0 h 600"/>
              <a:gd name="p0x1" fmla="*/ 480 w 600"/>
              <a:gd name="p0y1" fmla="*/ 0 h 600"/>
              <a:gd name="p0x2" fmla="*/ 546 w 600"/>
              <a:gd name="p0y2" fmla="*/ 0 h 600"/>
              <a:gd name="p0x3" fmla="*/ 600 w 600"/>
              <a:gd name="p0y3" fmla="*/ 53 h 600"/>
              <a:gd name="p0x4" fmla="*/ 600 w 600"/>
              <a:gd name="p0y4" fmla="*/ 120 h 600"/>
              <a:gd name="p0x5" fmla="*/ 600 w 600"/>
              <a:gd name="p0y5" fmla="*/ 480 h 600"/>
              <a:gd name="p0x6" fmla="*/ 600 w 600"/>
              <a:gd name="p0y6" fmla="*/ 546 h 600"/>
              <a:gd name="p0x7" fmla="*/ 546 w 600"/>
              <a:gd name="p0y7" fmla="*/ 600 h 600"/>
              <a:gd name="p0x8" fmla="*/ 480 w 600"/>
              <a:gd name="p0y8" fmla="*/ 600 h 600"/>
              <a:gd name="p0x9" fmla="*/ 120 w 600"/>
              <a:gd name="p0y9" fmla="*/ 600 h 600"/>
              <a:gd name="p0x10" fmla="*/ 53 w 600"/>
              <a:gd name="p0y10" fmla="*/ 600 h 600"/>
              <a:gd name="p0x11" fmla="*/ 0 w 600"/>
              <a:gd name="p0y11" fmla="*/ 546 h 600"/>
              <a:gd name="p0x12" fmla="*/ 0 w 600"/>
              <a:gd name="p0y12" fmla="*/ 480 h 600"/>
              <a:gd name="p0x13" fmla="*/ 0 w 600"/>
              <a:gd name="p0y13" fmla="*/ 120 h 600"/>
              <a:gd name="p0x14" fmla="*/ 0 w 600"/>
              <a:gd name="p0y14" fmla="*/ 53 h 600"/>
              <a:gd name="p0x15" fmla="*/ 53 w 600"/>
              <a:gd name="p0y15" fmla="*/ 0 h 600"/>
              <a:gd name="p0x16" fmla="*/ 120 w 60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35" name="文本框 34"/>
          <p:cNvSpPr txBox="1"/>
          <p:nvPr>
            <p:custDataLst>
              <p:tags r:id="rId11"/>
            </p:custDataLst>
          </p:nvPr>
        </p:nvSpPr>
        <p:spPr>
          <a:xfrm>
            <a:off x="1989142" y="3145394"/>
            <a:ext cx="207897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2"/>
            </p:custDataLst>
          </p:nvPr>
        </p:nvSpPr>
        <p:spPr>
          <a:xfrm>
            <a:off x="2314575" y="3119675"/>
            <a:ext cx="2535810" cy="2578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Operational Efficiency Testing</a:t>
            </a:r>
            <a:endParaRPr sz="124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3"/>
            </p:custDataLst>
          </p:nvPr>
        </p:nvSpPr>
        <p:spPr>
          <a:xfrm>
            <a:off x="6944783" y="3145394"/>
            <a:ext cx="613305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(Part 3)</a:t>
            </a:r>
            <a:endParaRPr sz="101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14"/>
            </p:custDataLst>
          </p:nvPr>
        </p:nvSpPr>
        <p:spPr>
          <a:xfrm>
            <a:off x="1885950" y="3650456"/>
            <a:ext cx="285750" cy="28575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120 w 600"/>
              <a:gd name="p0y0" fmla="*/ 0 h 600"/>
              <a:gd name="p0x1" fmla="*/ 480 w 600"/>
              <a:gd name="p0y1" fmla="*/ 0 h 600"/>
              <a:gd name="p0x2" fmla="*/ 546 w 600"/>
              <a:gd name="p0y2" fmla="*/ 0 h 600"/>
              <a:gd name="p0x3" fmla="*/ 600 w 600"/>
              <a:gd name="p0y3" fmla="*/ 53 h 600"/>
              <a:gd name="p0x4" fmla="*/ 600 w 600"/>
              <a:gd name="p0y4" fmla="*/ 120 h 600"/>
              <a:gd name="p0x5" fmla="*/ 600 w 600"/>
              <a:gd name="p0y5" fmla="*/ 480 h 600"/>
              <a:gd name="p0x6" fmla="*/ 600 w 600"/>
              <a:gd name="p0y6" fmla="*/ 546 h 600"/>
              <a:gd name="p0x7" fmla="*/ 546 w 600"/>
              <a:gd name="p0y7" fmla="*/ 600 h 600"/>
              <a:gd name="p0x8" fmla="*/ 480 w 600"/>
              <a:gd name="p0y8" fmla="*/ 600 h 600"/>
              <a:gd name="p0x9" fmla="*/ 120 w 600"/>
              <a:gd name="p0y9" fmla="*/ 600 h 600"/>
              <a:gd name="p0x10" fmla="*/ 53 w 600"/>
              <a:gd name="p0y10" fmla="*/ 600 h 600"/>
              <a:gd name="p0x11" fmla="*/ 0 w 600"/>
              <a:gd name="p0y11" fmla="*/ 546 h 600"/>
              <a:gd name="p0x12" fmla="*/ 0 w 600"/>
              <a:gd name="p0y12" fmla="*/ 480 h 600"/>
              <a:gd name="p0x13" fmla="*/ 0 w 600"/>
              <a:gd name="p0y13" fmla="*/ 120 h 600"/>
              <a:gd name="p0x14" fmla="*/ 0 w 600"/>
              <a:gd name="p0y14" fmla="*/ 53 h 600"/>
              <a:gd name="p0x15" fmla="*/ 53 w 600"/>
              <a:gd name="p0y15" fmla="*/ 0 h 600"/>
              <a:gd name="p0x16" fmla="*/ 120 w 60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66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39" name="文本框 38"/>
          <p:cNvSpPr txBox="1"/>
          <p:nvPr>
            <p:custDataLst>
              <p:tags r:id="rId15"/>
            </p:custDataLst>
          </p:nvPr>
        </p:nvSpPr>
        <p:spPr>
          <a:xfrm>
            <a:off x="1989142" y="3688319"/>
            <a:ext cx="207897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1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2314575" y="3662680"/>
            <a:ext cx="311721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Conclusion</a:t>
            </a:r>
            <a:r>
              <a:rPr lang="en-US" sz="12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 and Limitation </a:t>
            </a:r>
            <a:endParaRPr lang="en-US" sz="124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7"/>
            </p:custDataLst>
          </p:nvPr>
        </p:nvSpPr>
        <p:spPr>
          <a:xfrm>
            <a:off x="6944783" y="3688319"/>
            <a:ext cx="613305" cy="2064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1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(Part 4)</a:t>
            </a:r>
            <a:endParaRPr sz="101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1  ·  PROBLEM DEFINITION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What is Sequence Alignment?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572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F8E"/>
                </a:solidFill>
              </a:rPr>
              <a:t>Seq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C G T A C G 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45720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470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F8E"/>
                </a:solidFill>
              </a:rPr>
              <a:t>Seq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C - T A A G 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457200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7432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Why Dynamic Programming?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054096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Brute-force: </a:t>
            </a:r>
            <a:r>
              <a:rPr lang="en-US" sz="1100" dirty="0">
                <a:solidFill>
                  <a:srgbClr val="0D1B2A"/>
                </a:solidFill>
              </a:rPr>
              <a:t>enumerate all alignments → exponential in sequence length
</a:t>
            </a:r>
            <a:r>
              <a:rPr lang="en-US" sz="1100" b="1" dirty="0">
                <a:solidFill>
                  <a:srgbClr val="1B7F8E"/>
                </a:solidFill>
              </a:rPr>
              <a:t>DP insight: </a:t>
            </a:r>
            <a:r>
              <a:rPr lang="en-US" sz="1100" dirty="0">
                <a:solidFill>
                  <a:srgbClr val="0D1B2A"/>
                </a:solidFill>
              </a:rPr>
              <a:t>optimal alignment of prefixes S[1..i], T[1..j] depends only on smaller subproblems → O(mn) table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9240" y="685800"/>
            <a:ext cx="3474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8229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E"/>
                </a:solidFill>
              </a:rPr>
              <a:t>Real-World Applications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1143000"/>
            <a:ext cx="30175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26187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🧬  Genomics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150876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Find conserved genes across species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2011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💊  Drug Design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2585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Identify binding-site similarities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7614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🦠  Epidemiology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300837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Track viral mutation (e.g. SARS-CoV-2)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0" y="35112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🔬  Proteomics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7581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Align protein sequences for function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1  ·  ALGORITHM DESIGN: NW vs SW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402336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9494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Needleman-Wunsch  (Global)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11556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Initialization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33502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F[i,0] = i·gap    F[0,j] = j·gap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Recurrence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865376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F[i,j] = max(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F[i-1,j-1] + sub(i,j),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F[i-1,j]   + gap,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F[i,j-1]   + gap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7432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Traceback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96265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Start: (m, n)  →  Stop: (0, 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310128"/>
            <a:ext cx="3566160" cy="777240"/>
          </a:xfrm>
          <a:prstGeom prst="rect">
            <a:avLst/>
          </a:prstGeom>
          <a:solidFill>
            <a:srgbClr val="FFF3F3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364992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Every character must be aligned — gaps forced even for mismatching ends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658368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658368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69494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Smith-Waterman  (Local)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0912" y="1115568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Initialization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10912" y="1335024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H[i,0] = 0    H[0,j] =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912" y="164592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Recurrence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10912" y="1865376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H[i,j] = max(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H[i-1,j-1] + sub(i,j),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H[i-1,j]   + gap,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H[i,j-1]   + gap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0912" y="27432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Traceback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296265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Start: argmax(H)  →  Stop: H=0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0912" y="3310128"/>
            <a:ext cx="3566160" cy="777240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364992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max(0,…) floor prevents negative propagation — low-scoring flanks simply reset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24528" y="2514600"/>
            <a:ext cx="694944" cy="694944"/>
          </a:xfrm>
          <a:prstGeom prst="ellipse">
            <a:avLst/>
          </a:prstGeom>
          <a:solidFill>
            <a:srgbClr val="1B7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24528" y="2569464"/>
            <a:ext cx="69494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1  ·  DP FILL &amp; TRACEBACK VISUALIZATION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03504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F8E"/>
                </a:solidFill>
              </a:rPr>
              <a:t>Experiment 2 (Partial Similarity) — DP matrix fill + traceback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182880" y="896112"/>
            <a:ext cx="4114800" cy="3200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256032" y="914400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Needleman-Wunsch  (Global)</a:t>
            </a:r>
            <a:endParaRPr lang="en-US" sz="1100" dirty="0"/>
          </a:p>
        </p:txBody>
      </p:sp>
      <p:pic>
        <p:nvPicPr>
          <p:cNvPr id="7" name="Image 0" descr="images/partial_sim_NW_anim.gi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2880" y="1234440"/>
            <a:ext cx="4160520" cy="3520440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4800600" y="896112"/>
            <a:ext cx="41148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4873752" y="914400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Smith-Waterman  (Local)</a:t>
            </a:r>
            <a:endParaRPr lang="en-US" sz="1100" dirty="0"/>
          </a:p>
        </p:txBody>
      </p:sp>
      <p:pic>
        <p:nvPicPr>
          <p:cNvPr id="10" name="Image 1" descr="images/partial_sim_SW_anim.gif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800600" y="1234440"/>
            <a:ext cx="4160520" cy="3520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" y="4809744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NW: borders initialized with gap penalties — forces full-length alignment   ·   SW: all borders = 0, floor at max(0,…) — traceback stops at first 0 cell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1  ·  GAP MODEL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834640" cy="4343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2834640" cy="384048"/>
          </a:xfrm>
          <a:prstGeom prst="rect">
            <a:avLst/>
          </a:prstGeom>
          <a:solidFill>
            <a:srgbClr val="1B7F8E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76656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Linear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115568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F8E"/>
                </a:solidFill>
              </a:rPr>
              <a:t>Formula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" y="130759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w(k) = g · 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664208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F8E"/>
                </a:solidFill>
              </a:rPr>
              <a:t>Complexity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1847088"/>
            <a:ext cx="2606040" cy="320040"/>
          </a:xfrm>
          <a:prstGeom prst="rect">
            <a:avLst/>
          </a:prstGeom>
          <a:solidFill>
            <a:srgbClr val="E8F8F5"/>
          </a:solidFill>
          <a:ln w="10160">
            <a:solidFill>
              <a:srgbClr val="1B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86537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7F8E"/>
                </a:solidFill>
              </a:rPr>
              <a:t>O(mn)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26771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✓ Simple, O(1) per cell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" y="281635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3935"/>
                </a:solidFill>
              </a:rPr>
              <a:t>✗ Every base in a gap penalized equally — biologically unrealistic for long indels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" y="3493008"/>
            <a:ext cx="2606040" cy="457200"/>
          </a:xfrm>
          <a:prstGeom prst="rect">
            <a:avLst/>
          </a:prstGeom>
          <a:solidFill>
            <a:srgbClr val="EFF6F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529584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e.g.  w(3) = −6  (g=−2)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4041648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Best for full genomic alignments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72968" y="658368"/>
            <a:ext cx="2834640" cy="4343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658368"/>
            <a:ext cx="28346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676656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Affine Gap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(Gotoh)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82696" y="1115568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130759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w(k) = g_open + (k−1)·g_extend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82696" y="1664208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Complexity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82696" y="1847088"/>
            <a:ext cx="2606040" cy="320040"/>
          </a:xfrm>
          <a:prstGeom prst="rect">
            <a:avLst/>
          </a:prstGeom>
          <a:solidFill>
            <a:srgbClr val="E8F8F5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186537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O(mn)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82696" y="226771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✓ Gap-open penalized once; extensions cheaper — matches biology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82696" y="281635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3935"/>
                </a:solidFill>
              </a:rPr>
              <a:t>✗ Requires 3 matrices (M, Ix, Iy) but still O(1) per cell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82696" y="3493008"/>
            <a:ext cx="2606040" cy="457200"/>
          </a:xfrm>
          <a:prstGeom prst="rect">
            <a:avLst/>
          </a:prstGeom>
          <a:solidFill>
            <a:srgbClr val="EFF6F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529584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e.g.  w(3) = −10 + 2×(−1) = −12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82696" y="4041648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 in bioinformatics (BLAST)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17336" y="658368"/>
            <a:ext cx="2834640" cy="4343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658368"/>
            <a:ext cx="2834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676656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General Gap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27064" y="1115568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</a:rPr>
              <a:t>Formula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27064" y="130759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w(k) = any function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27064" y="1664208"/>
            <a:ext cx="2606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935"/>
                </a:solidFill>
              </a:rPr>
              <a:t>Complexity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27064" y="1847088"/>
            <a:ext cx="2606040" cy="320040"/>
          </a:xfrm>
          <a:prstGeom prst="rect">
            <a:avLst/>
          </a:prstGeom>
          <a:solidFill>
            <a:srgbClr val="FFF3F3"/>
          </a:solidFill>
          <a:ln w="1016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186537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3935"/>
                </a:solidFill>
              </a:rPr>
              <a:t>O(m²n + mn²)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27064" y="226771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✓ Fully flexible: log, quadratic, arbitrary table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27064" y="2816352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3935"/>
                </a:solidFill>
              </a:rPr>
              <a:t>✗ Must re-scan all gap lengths at each cell → O(k) per cell → O(n³) total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27064" y="3493008"/>
            <a:ext cx="2606040" cy="457200"/>
          </a:xfrm>
          <a:prstGeom prst="rect">
            <a:avLst/>
          </a:prstGeom>
          <a:solidFill>
            <a:srgbClr val="EFF6F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3529584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e.g.  w(k) = −2·log(k+1)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27064" y="4041648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Research / custom penalty shapes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1  ·  NW vs SW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37744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6766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Property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658368"/>
            <a:ext cx="3063240" cy="384048"/>
          </a:xfrm>
          <a:prstGeom prst="rect">
            <a:avLst/>
          </a:prstGeom>
          <a:solidFill>
            <a:srgbClr val="E5393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676656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Needleman-Wunsch (Global)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658368"/>
            <a:ext cx="306324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676656"/>
            <a:ext cx="2971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Smith-Waterman (Local)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06070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09728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Border init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060704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109728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F[i,0]=i·gap, F[0,j]=j·gap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1060704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09728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All borders =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499616"/>
            <a:ext cx="23774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536192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Recurrence floor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1499616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70632" y="153619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None — scores can be negative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499616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53619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max(0, …) — no negatives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938528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975104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Traceback start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1938528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0632" y="1975104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(m, n) — bottom-right corner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938528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1975104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argmax(H) — anywhere in matrix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377440"/>
            <a:ext cx="23774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414016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Traceback stop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377440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2414016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(0, 0) — top-left corner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2377440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2414016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First cell where H =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816352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" y="2852928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Alignment scope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97480" y="2816352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70632" y="2852928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Full length of both sequences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2816352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2852928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Best-scoring substring pair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255264"/>
            <a:ext cx="23774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291840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Negative score?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97480" y="3255264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0632" y="329184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</a:rPr>
              <a:t>Possible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60720" y="3255264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329184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Impossible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69417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730752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Time complexity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97480" y="3694176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70632" y="373075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O(mn)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60720" y="3694176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33872" y="3730752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O(mn)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133088"/>
            <a:ext cx="23774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" y="4169664"/>
            <a:ext cx="22677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Best suited for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697480" y="4133088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70632" y="4169664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Similar-length complete seqs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760720" y="4133088"/>
            <a:ext cx="306324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33872" y="4169664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Conserved domain / motif search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1  ·  COMPLEXITY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71270" y="658368"/>
            <a:ext cx="16916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7846" y="676656"/>
            <a:ext cx="1636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62910" y="658368"/>
            <a:ext cx="16916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486" y="676656"/>
            <a:ext cx="16367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54550" y="658368"/>
            <a:ext cx="10058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1126" y="676656"/>
            <a:ext cx="9509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Gap Model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0390" y="658368"/>
            <a:ext cx="12344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6966" y="676656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94830" y="658368"/>
            <a:ext cx="77724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406" y="676656"/>
            <a:ext cx="7223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Space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71270" y="1024128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846" y="1078992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NW (linear)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62910" y="1024128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486" y="1078992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Needleman-Wunsch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54550" y="1024128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1126" y="1078992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Linear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0390" y="1024128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966" y="1078992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94830" y="1024128"/>
            <a:ext cx="777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406" y="1078992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271270" y="1499616"/>
            <a:ext cx="16916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07846" y="1554480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SW (linear)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62910" y="1499616"/>
            <a:ext cx="16916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9486" y="1554480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Smith-Waterman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54550" y="1499616"/>
            <a:ext cx="10058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1126" y="1554480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Linear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0390" y="1499616"/>
            <a:ext cx="12344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96966" y="1554480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4830" y="1499616"/>
            <a:ext cx="7772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406" y="1554480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71270" y="1975104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07846" y="2029968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Gotoh-NW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62910" y="1975104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486" y="2029968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Gotoh global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54550" y="1975104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1126" y="2029968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Affine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0390" y="1975104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96966" y="2029968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94830" y="1975104"/>
            <a:ext cx="777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406" y="2029968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271270" y="2450592"/>
            <a:ext cx="16916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07846" y="2505456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Gotoh-SW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962910" y="2450592"/>
            <a:ext cx="16916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99486" y="2505456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Gotoh local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54550" y="2450592"/>
            <a:ext cx="10058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91126" y="2505456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Affine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660390" y="2450592"/>
            <a:ext cx="12344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96966" y="2505456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894830" y="2450592"/>
            <a:ext cx="77724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406" y="2505456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271270" y="2926080"/>
            <a:ext cx="16916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07846" y="2980944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General-NW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962910" y="2926080"/>
            <a:ext cx="16916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999486" y="2980944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NW + any gap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654550" y="2926080"/>
            <a:ext cx="10058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91126" y="2980944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Any w(k)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660390" y="2926080"/>
            <a:ext cx="12344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96966" y="2980944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</a:rPr>
              <a:t>O(m²n+mn²)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894830" y="2926080"/>
            <a:ext cx="7772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31406" y="2980944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271270" y="3401568"/>
            <a:ext cx="16916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307846" y="3456432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General-SW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962910" y="3401568"/>
            <a:ext cx="16916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99486" y="3456432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SW + any gap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654550" y="3401568"/>
            <a:ext cx="10058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91126" y="3456432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Any w(k)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660390" y="3401568"/>
            <a:ext cx="12344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96966" y="3456432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935"/>
                </a:solidFill>
              </a:rPr>
              <a:t>O(m²n+mn²)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894830" y="3401568"/>
            <a:ext cx="77724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31406" y="3456432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O(mn)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271270" y="3877056"/>
            <a:ext cx="16916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07846" y="3931920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Biopython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962910" y="3877056"/>
            <a:ext cx="16916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999486" y="3931920"/>
            <a:ext cx="16367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C-level SW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654550" y="3877056"/>
            <a:ext cx="10058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91126" y="3931920"/>
            <a:ext cx="9509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Affine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660390" y="3877056"/>
            <a:ext cx="12344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696966" y="3931920"/>
            <a:ext cx="1179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O(mn)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894830" y="3877056"/>
            <a:ext cx="7772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31406" y="3931920"/>
            <a:ext cx="7223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O(mn)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228600" y="4407408"/>
            <a:ext cx="8686800" cy="502920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47472" y="4462272"/>
            <a:ext cx="8412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💡  Space optimization: </a:t>
            </a:r>
            <a:r>
              <a:rPr lang="en-US" sz="1000" dirty="0">
                <a:solidFill>
                  <a:srgbClr val="0D1B2A"/>
                </a:solidFill>
              </a:rPr>
              <a:t>Hirschberg's algorithm achieves O(mn) time with O(min(m,n)) space — useful when only the score is needed, not the full alignment path.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855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CORRECTNESS VERIFICATION — EXPERIMENT DESIGN</a:t>
            </a:r>
            <a:endParaRPr lang="en-US" sz="18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74320" y="932688"/>
            <a:ext cx="8595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74320" y="932688"/>
            <a:ext cx="640080" cy="1234440"/>
          </a:xfrm>
          <a:prstGeom prst="rect">
            <a:avLst/>
          </a:prstGeom>
          <a:solidFill>
            <a:srgbClr val="1B7F8E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74320" y="13716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05840" y="97840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E"/>
                </a:solidFill>
              </a:rPr>
              <a:t>Small-Scale Verification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005840" y="12527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 constructed experiments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05840" y="1499616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Short sequences (8–17 bp), manually verifiable. Progressive stress test from zero noise → extreme length asymmetry.</a:t>
            </a:r>
            <a:endParaRPr lang="en-US" sz="1100" dirty="0">
              <a:solidFill>
                <a:srgbClr val="0D1B2A"/>
              </a:solidFill>
            </a:endParaRPr>
          </a:p>
          <a:p>
            <a:pPr marL="0" indent="0">
              <a:buNone/>
            </a:pPr>
            <a:r>
              <a:rPr lang="en-US" sz="1100" dirty="0"/>
              <a:t>Linear gap used here.</a:t>
            </a:r>
            <a:endParaRPr lang="en-US" sz="11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74320" y="2258568"/>
            <a:ext cx="8595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274320" y="2258568"/>
            <a:ext cx="64008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74320" y="26974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005840" y="230428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Statistical Hypothesis Testing</a:t>
            </a:r>
            <a:endParaRPr lang="en-US" sz="13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005840" y="257860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r>
              <a:rPr lang="en-US" sz="1000" dirty="0">
                <a:solidFill>
                  <a:srgbClr val="64748B"/>
                </a:solidFill>
                <a:sym typeface="+mn-ea"/>
              </a:rPr>
              <a:t> similarity levels × 50 pairs × 2 algorithms = 700 alignments</a:t>
            </a:r>
            <a:endParaRPr lang="en-US" sz="1000" dirty="0">
              <a:solidFill>
                <a:srgbClr val="64748B"/>
              </a:solidFill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05840" y="2882900"/>
            <a:ext cx="7680960" cy="387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Controlled similarity levels (30%–100%), 50 pairs each. Verify 4 formal hypotheses about NW/SW relationship.</a:t>
            </a:r>
            <a:endParaRPr lang="en-US" sz="1100" dirty="0">
              <a:solidFill>
                <a:srgbClr val="0D1B2A"/>
              </a:solidFill>
            </a:endParaRPr>
          </a:p>
          <a:p>
            <a:pPr marL="0" indent="0">
              <a:buNone/>
            </a:pPr>
            <a:endParaRPr lang="en-US" altLang="zh-CN" sz="11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274320" y="3584448"/>
            <a:ext cx="85953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274320" y="3584448"/>
            <a:ext cx="640080" cy="1234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274320" y="40233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05840" y="36301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Real-World Application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1005840" y="390448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SARS-CoV-2 spike protein from NCBI</a:t>
            </a:r>
            <a:endParaRPr lang="en-US" sz="1000" dirty="0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005840" y="4151376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Three variants (Wuhan, Delta, Omicron), ~1000 nt.  </a:t>
            </a:r>
            <a:r>
              <a:rPr lang="en-US" altLang="zh-CN" sz="1100" dirty="0">
                <a:solidFill>
                  <a:srgbClr val="0D1B2A"/>
                </a:solidFill>
              </a:rPr>
              <a:t>3 pairs </a:t>
            </a:r>
            <a:r>
              <a:rPr lang="en-US" altLang="en-US" sz="1100" dirty="0">
                <a:solidFill>
                  <a:srgbClr val="0D1B2A"/>
                </a:solidFill>
              </a:rPr>
              <a:t>×</a:t>
            </a:r>
            <a:r>
              <a:rPr lang="en-US" altLang="zh-CN" sz="1100" dirty="0">
                <a:solidFill>
                  <a:srgbClr val="0D1B2A"/>
                </a:solidFill>
              </a:rPr>
              <a:t> 4 methods to c</a:t>
            </a:r>
            <a:r>
              <a:rPr lang="en-US" sz="1100" dirty="0">
                <a:solidFill>
                  <a:srgbClr val="0D1B2A"/>
                </a:solidFill>
              </a:rPr>
              <a:t>onfirm alignment quality; </a:t>
            </a:r>
            <a:endParaRPr lang="en-US" sz="1100" dirty="0">
              <a:solidFill>
                <a:srgbClr val="0D1B2A"/>
              </a:solidFill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rgbClr val="0D1B2A"/>
                </a:solidFill>
              </a:rPr>
              <a:t>6 SARS-CoV-2 + 5 random negative controls, </a:t>
            </a:r>
            <a:r>
              <a:rPr lang="en-US" sz="1100" dirty="0">
                <a:solidFill>
                  <a:srgbClr val="0D1B2A"/>
                </a:solidFill>
              </a:rPr>
              <a:t>E-value to show </a:t>
            </a:r>
            <a:r>
              <a:rPr lang="en-US" altLang="zh-CN" sz="1100" dirty="0">
                <a:solidFill>
                  <a:srgbClr val="0D1B2A"/>
                </a:solidFill>
              </a:rPr>
              <a:t>s</a:t>
            </a:r>
            <a:r>
              <a:rPr lang="en-US" altLang="zh-CN" sz="1100" dirty="0">
                <a:solidFill>
                  <a:srgbClr val="0D1B2A"/>
                </a:solidFill>
              </a:rPr>
              <a:t>tatistical significance</a:t>
            </a:r>
            <a:r>
              <a:rPr lang="en-US" sz="1100" dirty="0">
                <a:solidFill>
                  <a:srgbClr val="0D1B2A"/>
                </a:solidFill>
              </a:rPr>
              <a:t>.</a:t>
            </a:r>
            <a:endParaRPr lang="en-US" sz="1100" dirty="0">
              <a:solidFill>
                <a:srgbClr val="0D1B2A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EXP 1 — FULL SIMILARITY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82880" y="4333240"/>
            <a:ext cx="8778240" cy="570865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735" y="4333875"/>
            <a:ext cx="8558530" cy="568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📌  </a:t>
            </a:r>
            <a:r>
              <a:rPr lang="en-US" altLang="zh-CN" sz="950" dirty="0"/>
              <a:t>When the two sequences have full-length similarity, SW is a strict generalisation of NW and the two converge.</a:t>
            </a:r>
            <a:endParaRPr lang="en-US" altLang="zh-CN" sz="950" dirty="0"/>
          </a:p>
        </p:txBody>
      </p:sp>
      <p:pic>
        <p:nvPicPr>
          <p:cNvPr id="13" name="图片 12" descr="full_sim_N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1034415"/>
            <a:ext cx="3330575" cy="2980690"/>
          </a:xfrm>
          <a:prstGeom prst="rect">
            <a:avLst/>
          </a:prstGeom>
        </p:spPr>
      </p:pic>
      <p:pic>
        <p:nvPicPr>
          <p:cNvPr id="14" name="图片 13" descr="full_sim_S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545" y="1038860"/>
            <a:ext cx="3422015" cy="2976245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7122795" y="1038860"/>
          <a:ext cx="1903095" cy="836930"/>
        </p:xfrm>
        <a:graphic>
          <a:graphicData uri="http://schemas.openxmlformats.org/drawingml/2006/table">
            <a:tbl>
              <a:tblPr/>
              <a:tblGrid>
                <a:gridCol w="634365"/>
                <a:gridCol w="634365"/>
                <a:gridCol w="634365"/>
              </a:tblGrid>
              <a:tr h="234950">
                <a:tc>
                  <a:txBody>
                    <a:bodyPr/>
                    <a:p>
                      <a:pPr latinLnBrk="0"/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Sequence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  <a:p>
                      <a:pPr latinLnBrk="0"/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Length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ACGTACGT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ACGTACGT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7113905" y="2174875"/>
          <a:ext cx="1910715" cy="1635760"/>
        </p:xfrm>
        <a:graphic>
          <a:graphicData uri="http://schemas.openxmlformats.org/drawingml/2006/table">
            <a:tbl>
              <a:tblPr/>
              <a:tblGrid>
                <a:gridCol w="636905"/>
                <a:gridCol w="636905"/>
                <a:gridCol w="636905"/>
              </a:tblGrid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Metric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NW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Aligned length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Identity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Gap rate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 density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2.00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2.00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Coverage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EXP 2 — PARTIAL SIMILARITY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345" y="604139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Shared core flanked by noise</a:t>
            </a:r>
            <a:endParaRPr lang="en-US" sz="1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35585" y="1059815"/>
            <a:ext cx="3351530" cy="2590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258445" y="1066800"/>
            <a:ext cx="3331845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NW — score = 2  (flanks drag score down)</a:t>
            </a:r>
            <a:endParaRPr lang="en-US" sz="1100" dirty="0"/>
          </a:p>
        </p:txBody>
      </p:sp>
      <p:pic>
        <p:nvPicPr>
          <p:cNvPr id="7" name="Image 0" descr="images/partial_sim_NW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4790" y="1329055"/>
            <a:ext cx="3368675" cy="2755265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3678555" y="1059815"/>
            <a:ext cx="3347720" cy="259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3751580" y="1066800"/>
            <a:ext cx="3287395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 — score = 8  (isolates shared core)</a:t>
            </a:r>
            <a:endParaRPr lang="en-US" sz="1100" dirty="0"/>
          </a:p>
        </p:txBody>
      </p:sp>
      <p:pic>
        <p:nvPicPr>
          <p:cNvPr id="10" name="Image 1" descr="images/partial_sim_SW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78555" y="1318895"/>
            <a:ext cx="3368675" cy="27552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4395978"/>
            <a:ext cx="8778240" cy="384048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608" y="4432554"/>
            <a:ext cx="85587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📌  NW penalized by mismatching flanks on both sides; SW resets at boundaries and finds the shared region cleanly.</a:t>
            </a:r>
            <a:endParaRPr lang="en-US" sz="950" dirty="0"/>
          </a:p>
        </p:txBody>
      </p:sp>
      <p:graphicFrame>
        <p:nvGraphicFramePr>
          <p:cNvPr id="15" name="表格 14"/>
          <p:cNvGraphicFramePr/>
          <p:nvPr/>
        </p:nvGraphicFramePr>
        <p:xfrm>
          <a:off x="7122795" y="1038860"/>
          <a:ext cx="1903095" cy="715010"/>
        </p:xfrm>
        <a:graphic>
          <a:graphicData uri="http://schemas.openxmlformats.org/drawingml/2006/table">
            <a:tbl>
              <a:tblPr/>
              <a:tblGrid>
                <a:gridCol w="634365"/>
                <a:gridCol w="721360"/>
                <a:gridCol w="547370"/>
              </a:tblGrid>
              <a:tr h="234950">
                <a:tc>
                  <a:txBody>
                    <a:bodyPr/>
                    <a:p>
                      <a:pPr latinLnBrk="0"/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Sequence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Length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TTTACGTTTT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GGGACGTGGG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7113905" y="2174875"/>
          <a:ext cx="1910715" cy="1635760"/>
        </p:xfrm>
        <a:graphic>
          <a:graphicData uri="http://schemas.openxmlformats.org/drawingml/2006/table">
            <a:tbl>
              <a:tblPr/>
              <a:tblGrid>
                <a:gridCol w="636905"/>
                <a:gridCol w="636905"/>
                <a:gridCol w="636905"/>
              </a:tblGrid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Metric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NW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Aligned length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Identity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Gap rate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 density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0.20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2.00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Coverage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EXP 3 — </a:t>
            </a:r>
            <a:r>
              <a:rPr lang="en-US" altLang="zh-CN" sz="1800" b="1" dirty="0">
                <a:solidFill>
                  <a:schemeClr val="bg1"/>
                </a:solidFill>
              </a:rPr>
              <a:t>Shifted / Overlapping</a:t>
            </a:r>
            <a:endParaRPr lang="en-US" altLang="zh-CN" sz="1800" b="1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182880" y="4396105"/>
            <a:ext cx="8778240" cy="506095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735" y="4432300"/>
            <a:ext cx="8558530" cy="385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📌  </a:t>
            </a:r>
            <a:r>
              <a:rPr lang="en-US" altLang="zh-CN" sz="1050" dirty="0">
                <a:solidFill>
                  <a:srgbClr val="0D1B2A"/>
                </a:solidFill>
              </a:rPr>
              <a:t>For shifted DNA </a:t>
            </a:r>
            <a:r>
              <a:rPr lang="en-US" altLang="zh-CN" sz="1000" dirty="0">
                <a:solidFill>
                  <a:srgbClr val="0D1B2A"/>
                </a:solidFill>
              </a:rPr>
              <a:t>sequences</a:t>
            </a:r>
            <a:r>
              <a:rPr lang="en-US" altLang="zh-CN" sz="1050" dirty="0">
                <a:solidFill>
                  <a:srgbClr val="0D1B2A"/>
                </a:solidFill>
              </a:rPr>
              <a:t>, Smith-Waterman provides a more accurate representation of the shared genetic material by maximizing the Score Density rather than the alignment coverage.</a:t>
            </a:r>
            <a:r>
              <a:rPr lang="en-US" sz="1050" dirty="0">
                <a:solidFill>
                  <a:srgbClr val="0D1B2A"/>
                </a:solidFill>
              </a:rPr>
              <a:t> </a:t>
            </a:r>
            <a:endParaRPr lang="en-US" sz="1050" dirty="0">
              <a:solidFill>
                <a:srgbClr val="0D1B2A"/>
              </a:solidFill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7122795" y="1038860"/>
          <a:ext cx="1903095" cy="715010"/>
        </p:xfrm>
        <a:graphic>
          <a:graphicData uri="http://schemas.openxmlformats.org/drawingml/2006/table">
            <a:tbl>
              <a:tblPr/>
              <a:tblGrid>
                <a:gridCol w="634365"/>
                <a:gridCol w="721360"/>
                <a:gridCol w="547370"/>
              </a:tblGrid>
              <a:tr h="234950">
                <a:tc>
                  <a:txBody>
                    <a:bodyPr/>
                    <a:p>
                      <a:pPr latinLnBrk="0"/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Sequence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Length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AATCGTAGCA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CGTAGCATTG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7113905" y="2174875"/>
          <a:ext cx="1910715" cy="1635760"/>
        </p:xfrm>
        <a:graphic>
          <a:graphicData uri="http://schemas.openxmlformats.org/drawingml/2006/table">
            <a:tbl>
              <a:tblPr/>
              <a:tblGrid>
                <a:gridCol w="636905"/>
                <a:gridCol w="636905"/>
                <a:gridCol w="636905"/>
              </a:tblGrid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Metric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NW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14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Aligned length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13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Identity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53.8%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Gap rate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46.2%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 density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0.15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2.00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Coverage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130.0%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70.0%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3" descr="shifted_N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1010920"/>
            <a:ext cx="3470275" cy="3105785"/>
          </a:xfrm>
          <a:prstGeom prst="rect">
            <a:avLst/>
          </a:prstGeom>
        </p:spPr>
      </p:pic>
      <p:pic>
        <p:nvPicPr>
          <p:cNvPr id="17" name="图片 16" descr="shifted_S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495" y="1010920"/>
            <a:ext cx="3308350" cy="3107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EXP 4 — EMBEDDED MOTIF (EcoRI: GAATTC)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03504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Restriction site buried in unrelated flanks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8770" y="1085850"/>
            <a:ext cx="3310890" cy="26543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1795" y="1092835"/>
            <a:ext cx="3201670" cy="212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NW — score = 4  (flanks penalize)</a:t>
            </a:r>
            <a:endParaRPr lang="en-US" sz="1100" dirty="0"/>
          </a:p>
        </p:txBody>
      </p:sp>
      <p:pic>
        <p:nvPicPr>
          <p:cNvPr id="7" name="Image 0" descr="images/embed_motif_N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351280"/>
            <a:ext cx="3310890" cy="28213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92525" y="1089025"/>
            <a:ext cx="3310890" cy="26543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5550" y="1096010"/>
            <a:ext cx="3201670" cy="212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SW — score = 16  (perfect motif extraction)</a:t>
            </a:r>
            <a:endParaRPr lang="en-US" sz="1100" dirty="0"/>
          </a:p>
        </p:txBody>
      </p:sp>
      <p:pic>
        <p:nvPicPr>
          <p:cNvPr id="10" name="Image 1" descr="images/embed_motif_S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525" y="1347470"/>
            <a:ext cx="3310890" cy="28213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4518533"/>
            <a:ext cx="8778240" cy="384048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608" y="4555109"/>
            <a:ext cx="85587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📌  The clearest demonstration: NW must align noisy flanks and scores poorly; SW's floor ignores them and recovers the exact motif.</a:t>
            </a:r>
            <a:endParaRPr lang="en-US" sz="950" dirty="0"/>
          </a:p>
        </p:txBody>
      </p:sp>
      <p:graphicFrame>
        <p:nvGraphicFramePr>
          <p:cNvPr id="15" name="表格 14"/>
          <p:cNvGraphicFramePr/>
          <p:nvPr/>
        </p:nvGraphicFramePr>
        <p:xfrm>
          <a:off x="7139305" y="1096010"/>
          <a:ext cx="1903095" cy="715010"/>
        </p:xfrm>
        <a:graphic>
          <a:graphicData uri="http://schemas.openxmlformats.org/drawingml/2006/table">
            <a:tbl>
              <a:tblPr/>
              <a:tblGrid>
                <a:gridCol w="514985"/>
                <a:gridCol w="840740"/>
                <a:gridCol w="547370"/>
              </a:tblGrid>
              <a:tr h="234950">
                <a:tc>
                  <a:txBody>
                    <a:bodyPr/>
                    <a:p>
                      <a:pPr latinLnBrk="0"/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Sequence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Length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AACCTTGAATTCCGGAA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TTTTGAATTCTTTT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14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7130415" y="2232025"/>
          <a:ext cx="1910715" cy="1635760"/>
        </p:xfrm>
        <a:graphic>
          <a:graphicData uri="http://schemas.openxmlformats.org/drawingml/2006/table">
            <a:tbl>
              <a:tblPr/>
              <a:tblGrid>
                <a:gridCol w="636905"/>
                <a:gridCol w="636905"/>
                <a:gridCol w="636905"/>
              </a:tblGrid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Metric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NW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Aligned length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Identity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47.1%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Gap rate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17.6%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 density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0.24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2.00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Coverage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47.1%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EXP 5 — DIFFERENT LENGTHS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603504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Short 8bp query embedded in 17bp target</a:t>
            </a:r>
            <a:endParaRPr lang="en-US" sz="1100" dirty="0"/>
          </a:p>
        </p:txBody>
      </p:sp>
      <p:pic>
        <p:nvPicPr>
          <p:cNvPr id="7" name="Image 0" descr="images/diff_length_NW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2735" y="1224915"/>
            <a:ext cx="3248025" cy="2851785"/>
          </a:xfrm>
          <a:prstGeom prst="rect">
            <a:avLst/>
          </a:prstGeom>
        </p:spPr>
      </p:pic>
      <p:pic>
        <p:nvPicPr>
          <p:cNvPr id="10" name="Image 1" descr="images/diff_length_SW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35680" y="1232535"/>
            <a:ext cx="3242945" cy="289179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4459478"/>
            <a:ext cx="8778240" cy="384048"/>
          </a:xfrm>
          <a:prstGeom prst="rect">
            <a:avLst/>
          </a:prstGeom>
          <a:solidFill>
            <a:srgbClr val="E8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608" y="4496054"/>
            <a:ext cx="85587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📌  Extreme asymmetry: NW forced to fill every position with gaps, scoring below zero. SW ignores the length difference entirely.</a:t>
            </a:r>
            <a:endParaRPr lang="en-US" sz="950" dirty="0"/>
          </a:p>
        </p:txBody>
      </p:sp>
      <p:graphicFrame>
        <p:nvGraphicFramePr>
          <p:cNvPr id="15" name="表格 14"/>
          <p:cNvGraphicFramePr/>
          <p:nvPr/>
        </p:nvGraphicFramePr>
        <p:xfrm>
          <a:off x="7139305" y="1096010"/>
          <a:ext cx="1903095" cy="715010"/>
        </p:xfrm>
        <a:graphic>
          <a:graphicData uri="http://schemas.openxmlformats.org/drawingml/2006/table">
            <a:tbl>
              <a:tblPr/>
              <a:tblGrid>
                <a:gridCol w="514985"/>
                <a:gridCol w="840740"/>
                <a:gridCol w="547370"/>
              </a:tblGrid>
              <a:tr h="234950">
                <a:tc>
                  <a:txBody>
                    <a:bodyPr/>
                    <a:p>
                      <a:pPr latinLnBrk="0"/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Sequence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800" b="1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Length</a:t>
                      </a:r>
                      <a:endParaRPr lang="zh-CN" altLang="en-US" sz="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Seq1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ATCGATCG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907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Seq2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9525" indent="0" latinLnBrk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800"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  <a:sym typeface="+mn-ea"/>
                        </a:rPr>
                        <a:t>TTTTATCGATCGTTTTT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/>
        </p:nvGraphicFramePr>
        <p:xfrm>
          <a:off x="7130415" y="2232025"/>
          <a:ext cx="1910715" cy="1635760"/>
        </p:xfrm>
        <a:graphic>
          <a:graphicData uri="http://schemas.openxmlformats.org/drawingml/2006/table">
            <a:tbl>
              <a:tblPr/>
              <a:tblGrid>
                <a:gridCol w="636905"/>
                <a:gridCol w="636905"/>
                <a:gridCol w="636905"/>
              </a:tblGrid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Metric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NW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1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SW</a:t>
                      </a:r>
                      <a:endParaRPr lang="en-US" altLang="zh-CN" sz="800" b="1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-2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16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Aligned length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17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8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Identity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47.1%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Gap rate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52.9%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93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Score density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-0.12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2.00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5580"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Coverage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100.0%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latinLnBrk="0"/>
                      <a:r>
                        <a:rPr lang="en-US" altLang="zh-CN" sz="800" b="0" i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Helvetica"/>
                          <a:cs typeface="Times New Roman" panose="02020603050405020304" charset="0"/>
                        </a:rPr>
                        <a:t>47.1%</a:t>
                      </a:r>
                      <a:endParaRPr lang="en-US" altLang="zh-CN" sz="800" b="0" i="0">
                        <a:solidFill>
                          <a:schemeClr val="tx1"/>
                        </a:solidFill>
                        <a:latin typeface="Times New Roman" panose="02020603050405020304" charset="0"/>
                        <a:ea typeface="Helvetica"/>
                        <a:cs typeface="Times New Roman" panose="02020603050405020304" charset="0"/>
                      </a:endParaRPr>
                    </a:p>
                  </a:txBody>
                  <a:tcPr marL="62230" marR="62230" marT="28892" marB="28892" anchor="ctr" anchorCtr="0">
                    <a:lnL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393B4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SMALL-SCALE EXPERIMENTS: DESIGN &amp; SCORES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91997" y="456387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SW score ≥ NW score in all experiments — provable theorem;    </a:t>
            </a:r>
            <a:endParaRPr lang="en-US" sz="1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000" dirty="0">
                <a:solidFill>
                  <a:schemeClr val="tx1"/>
                </a:solidFill>
              </a:rPr>
              <a:t>The ratio grows as the proportion of irrelevant flanking material increases.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pic>
        <p:nvPicPr>
          <p:cNvPr id="44" name="Image 0" descr="images/score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870" y="902970"/>
            <a:ext cx="685673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STATISTICAL VALIDATION </a:t>
            </a:r>
            <a:endParaRPr lang="en-US" sz="1800" dirty="0"/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228600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228600" y="3794760"/>
            <a:ext cx="2084832" cy="54864"/>
          </a:xfrm>
          <a:prstGeom prst="rect">
            <a:avLst/>
          </a:prstGeom>
          <a:solidFill>
            <a:srgbClr val="1B7F8E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320040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E"/>
                </a:solidFill>
              </a:rPr>
              <a:t>H1</a:t>
            </a:r>
            <a:endParaRPr lang="en-US" sz="13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320040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NW = SW at 100% similarity</a:t>
            </a:r>
            <a:endParaRPr lang="en-US" sz="900" dirty="0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320040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All 50 pairs identical</a:t>
            </a:r>
            <a:endParaRPr lang="en-US" sz="900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2441448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2441448" y="3794760"/>
            <a:ext cx="208483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2532888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H2</a:t>
            </a:r>
            <a:endParaRPr lang="en-US" sz="1300" dirty="0"/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2532888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SW ≥ NW always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(proven: SW solution space ⊇ NW)</a:t>
            </a:r>
            <a:endParaRPr lang="en-US" sz="9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2532888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0 violations / 350</a:t>
            </a:r>
            <a:endParaRPr lang="en-US" sz="900" dirty="0"/>
          </a:p>
        </p:txBody>
      </p:sp>
      <p:sp>
        <p:nvSpPr>
          <p:cNvPr id="15" name="Shape 12"/>
          <p:cNvSpPr/>
          <p:nvPr>
            <p:custDataLst>
              <p:tags r:id="rId11"/>
            </p:custDataLst>
          </p:nvPr>
        </p:nvSpPr>
        <p:spPr>
          <a:xfrm>
            <a:off x="4654296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>
            <p:custDataLst>
              <p:tags r:id="rId12"/>
            </p:custDataLst>
          </p:nvPr>
        </p:nvSpPr>
        <p:spPr>
          <a:xfrm>
            <a:off x="4654296" y="3794760"/>
            <a:ext cx="208483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4745736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H3</a:t>
            </a:r>
            <a:endParaRPr lang="en-US" sz="1300" dirty="0"/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4745736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SW/NW ratio grows as similarity drops</a:t>
            </a:r>
            <a:endParaRPr lang="en-US" sz="900" dirty="0"/>
          </a:p>
        </p:txBody>
      </p:sp>
      <p:sp>
        <p:nvSpPr>
          <p:cNvPr id="19" name="Text 16"/>
          <p:cNvSpPr/>
          <p:nvPr>
            <p:custDataLst>
              <p:tags r:id="rId15"/>
            </p:custDataLst>
          </p:nvPr>
        </p:nvSpPr>
        <p:spPr>
          <a:xfrm>
            <a:off x="4745736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1.00 → ~1.16 at 30%</a:t>
            </a:r>
            <a:endParaRPr lang="en-US" sz="900" dirty="0"/>
          </a:p>
        </p:txBody>
      </p:sp>
      <p:sp>
        <p:nvSpPr>
          <p:cNvPr id="20" name="Shape 17"/>
          <p:cNvSpPr/>
          <p:nvPr>
            <p:custDataLst>
              <p:tags r:id="rId16"/>
            </p:custDataLst>
          </p:nvPr>
        </p:nvSpPr>
        <p:spPr>
          <a:xfrm>
            <a:off x="6867144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>
            <p:custDataLst>
              <p:tags r:id="rId17"/>
            </p:custDataLst>
          </p:nvPr>
        </p:nvSpPr>
        <p:spPr>
          <a:xfrm>
            <a:off x="6867144" y="3794760"/>
            <a:ext cx="2084832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18"/>
            </p:custDataLst>
          </p:nvPr>
        </p:nvSpPr>
        <p:spPr>
          <a:xfrm>
            <a:off x="6958584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H4</a:t>
            </a:r>
            <a:endParaRPr lang="en-US" sz="1300" dirty="0"/>
          </a:p>
        </p:txBody>
      </p:sp>
      <p:sp>
        <p:nvSpPr>
          <p:cNvPr id="23" name="Text 20"/>
          <p:cNvSpPr/>
          <p:nvPr>
            <p:custDataLst>
              <p:tags r:id="rId19"/>
            </p:custDataLst>
          </p:nvPr>
        </p:nvSpPr>
        <p:spPr>
          <a:xfrm>
            <a:off x="6958584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SW identity tracks true similarity better</a:t>
            </a:r>
            <a:endParaRPr lang="en-US" sz="900" dirty="0"/>
          </a:p>
        </p:txBody>
      </p:sp>
      <p:sp>
        <p:nvSpPr>
          <p:cNvPr id="24" name="Text 21"/>
          <p:cNvSpPr/>
          <p:nvPr>
            <p:custDataLst>
              <p:tags r:id="rId20"/>
            </p:custDataLst>
          </p:nvPr>
        </p:nvSpPr>
        <p:spPr>
          <a:xfrm>
            <a:off x="6958584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NW diluted by forced gaps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48640" y="1234440"/>
          <a:ext cx="8046720" cy="219456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97280"/>
                <a:gridCol w="914400"/>
                <a:gridCol w="1097280"/>
                <a:gridCol w="1097280"/>
                <a:gridCol w="100584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NW Score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 Score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SW/NW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NW Ident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 Ident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H2 Pass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400.0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400.0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100.0%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100.0%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370.0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370.1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95.0%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95.0%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343.1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343.4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90.5%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90.7%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284.1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284.5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80.7%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80.9%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224.4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225.5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1.01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70.9%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71.3%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125.3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129.2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1.03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55.9%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57.4%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81.1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93.9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1.16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51.3%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54.2%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anose="020F050202020403020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50/50</a:t>
                      </a:r>
                      <a:endParaRPr lang="en-US" sz="1100" dirty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Gotoh affine gap  |  350 synthetic pairs × 7 similarity levels × length 200 nt × seed 42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STATISTICAL VALIDATION  </a:t>
            </a:r>
            <a:endParaRPr lang="en-US" sz="1800" dirty="0"/>
          </a:p>
        </p:txBody>
      </p:sp>
      <p:pic>
        <p:nvPicPr>
          <p:cNvPr id="4" name="Image 0" descr="images/validation_stud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03504"/>
            <a:ext cx="8686800" cy="3090672"/>
          </a:xfrm>
          <a:prstGeom prst="rect">
            <a:avLst/>
          </a:prstGeom>
        </p:spPr>
      </p:pic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28600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28600" y="3794760"/>
            <a:ext cx="2084832" cy="54864"/>
          </a:xfrm>
          <a:prstGeom prst="rect">
            <a:avLst/>
          </a:prstGeom>
          <a:solidFill>
            <a:srgbClr val="1B7F8E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320040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E"/>
                </a:solidFill>
              </a:rPr>
              <a:t>H1</a:t>
            </a:r>
            <a:endParaRPr lang="en-US" sz="13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320040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NW = SW at 100% similarity</a:t>
            </a:r>
            <a:endParaRPr lang="en-US" sz="9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320040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All 50 pairs identical</a:t>
            </a:r>
            <a:endParaRPr lang="en-US" sz="900" dirty="0"/>
          </a:p>
        </p:txBody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2441448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2441448" y="3794760"/>
            <a:ext cx="208483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2532888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H2</a:t>
            </a:r>
            <a:endParaRPr lang="en-US" sz="1300" dirty="0"/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2532888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SW ≥ NW always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(proven: SW solution space ⊇ NW)</a:t>
            </a:r>
            <a:endParaRPr lang="en-US" sz="900" dirty="0"/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2532888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0 violations / 350</a:t>
            </a:r>
            <a:endParaRPr lang="en-US" sz="900" dirty="0"/>
          </a:p>
        </p:txBody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4654296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4654296" y="3794760"/>
            <a:ext cx="208483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4745736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H3</a:t>
            </a:r>
            <a:endParaRPr lang="en-US" sz="1300" dirty="0"/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4745736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SW/NW ratio grows as similarity drops</a:t>
            </a:r>
            <a:endParaRPr lang="en-US" sz="900" dirty="0"/>
          </a:p>
        </p:txBody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4745736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1.00 → ~1.16 at 30%</a:t>
            </a:r>
            <a:endParaRPr lang="en-US" sz="900" dirty="0"/>
          </a:p>
        </p:txBody>
      </p:sp>
      <p:sp>
        <p:nvSpPr>
          <p:cNvPr id="20" name="Shape 17"/>
          <p:cNvSpPr/>
          <p:nvPr>
            <p:custDataLst>
              <p:tags r:id="rId17"/>
            </p:custDataLst>
          </p:nvPr>
        </p:nvSpPr>
        <p:spPr>
          <a:xfrm>
            <a:off x="6867144" y="3794760"/>
            <a:ext cx="2084832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>
            <p:custDataLst>
              <p:tags r:id="rId18"/>
            </p:custDataLst>
          </p:nvPr>
        </p:nvSpPr>
        <p:spPr>
          <a:xfrm>
            <a:off x="6867144" y="3794760"/>
            <a:ext cx="2084832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>
            <p:custDataLst>
              <p:tags r:id="rId19"/>
            </p:custDataLst>
          </p:nvPr>
        </p:nvSpPr>
        <p:spPr>
          <a:xfrm>
            <a:off x="6958584" y="386791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H4</a:t>
            </a:r>
            <a:endParaRPr lang="en-US" sz="1300" dirty="0"/>
          </a:p>
        </p:txBody>
      </p:sp>
      <p:sp>
        <p:nvSpPr>
          <p:cNvPr id="23" name="Text 20"/>
          <p:cNvSpPr/>
          <p:nvPr>
            <p:custDataLst>
              <p:tags r:id="rId20"/>
            </p:custDataLst>
          </p:nvPr>
        </p:nvSpPr>
        <p:spPr>
          <a:xfrm>
            <a:off x="6958584" y="4114800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SW identity tracks true similarity better</a:t>
            </a:r>
            <a:endParaRPr lang="en-US" sz="900" dirty="0"/>
          </a:p>
        </p:txBody>
      </p:sp>
      <p:sp>
        <p:nvSpPr>
          <p:cNvPr id="24" name="Text 21"/>
          <p:cNvSpPr/>
          <p:nvPr>
            <p:custDataLst>
              <p:tags r:id="rId21"/>
            </p:custDataLst>
          </p:nvPr>
        </p:nvSpPr>
        <p:spPr>
          <a:xfrm>
            <a:off x="6958584" y="4407408"/>
            <a:ext cx="1901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✅  NW diluted by forced gaps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REAL-WORLD VALIDATION — SARS-CoV-2 SPIKE RBD</a:t>
            </a:r>
            <a:endParaRPr lang="en-US" sz="1800" dirty="0"/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330835" y="737870"/>
          <a:ext cx="8538210" cy="1239520"/>
        </p:xfrm>
        <a:graphic>
          <a:graphicData uri="http://schemas.openxmlformats.org/drawingml/2006/table">
            <a:tbl>
              <a:tblPr/>
              <a:tblGrid>
                <a:gridCol w="1067276"/>
                <a:gridCol w="1067277"/>
                <a:gridCol w="1067276"/>
                <a:gridCol w="1067276"/>
                <a:gridCol w="1067276"/>
                <a:gridCol w="1067276"/>
                <a:gridCol w="1067277"/>
                <a:gridCol w="1067276"/>
              </a:tblGrid>
              <a:tr h="309880"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Pair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NW-lin score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SW-lin score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  <a:sym typeface="+mn-ea"/>
                        </a:rPr>
                        <a:t>Gotoh-NW</a:t>
                      </a:r>
                      <a:endParaRPr lang="en-US" altLang="zh-CN" sz="1000" b="0" i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Gotoh-SW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NW identity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SW identity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NW gaps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Wuhan↔Delta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1002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1110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1036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1110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90.8%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99.6%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8.8%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Wuhan↔Omicron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692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980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807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971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75.8%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97.1%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22.1%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Delta↔Omicron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854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1034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915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1025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83.3%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97.2%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00000"/>
                        </a:lnSpc>
                      </a:pPr>
                      <a:r>
                        <a:rPr lang="en-US" altLang="zh-CN" sz="1000" b="0" i="0">
                          <a:solidFill>
                            <a:srgbClr val="0A0A0A"/>
                          </a:solidFill>
                          <a:latin typeface="Times New Roman" panose="02020603050405020304" charset="0"/>
                          <a:ea typeface="Anthropic Sans"/>
                          <a:cs typeface="Times New Roman" panose="02020603050405020304" charset="0"/>
                        </a:rPr>
                        <a:t>14.4%</a:t>
                      </a:r>
                      <a:endParaRPr lang="en-US" altLang="zh-CN" sz="1000" b="0" i="0">
                        <a:solidFill>
                          <a:srgbClr val="0A0A0A"/>
                        </a:solidFill>
                        <a:latin typeface="Times New Roman" panose="02020603050405020304" charset="0"/>
                        <a:ea typeface="Anthropic Sans"/>
                        <a:cs typeface="Times New Roman" panose="02020603050405020304" charset="0"/>
                      </a:endParaRPr>
                    </a:p>
                  </a:txBody>
                  <a:tcPr marL="38417" marR="38417" marT="38417" marB="38417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10581"/>
          <a:stretch>
            <a:fillRect/>
          </a:stretch>
        </p:blipFill>
        <p:spPr>
          <a:xfrm>
            <a:off x="915035" y="2089150"/>
            <a:ext cx="5079365" cy="2875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Shape 17"/>
          <p:cNvSpPr/>
          <p:nvPr/>
        </p:nvSpPr>
        <p:spPr>
          <a:xfrm>
            <a:off x="228600" y="1791970"/>
            <a:ext cx="8595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189255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E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2203450"/>
            <a:ext cx="81381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9489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• Sequence length:  </a:t>
            </a:r>
            <a:r>
              <a:rPr lang="en-US" sz="1050" dirty="0">
                <a:solidFill>
                  <a:srgbClr val="64748B"/>
                </a:solidFill>
              </a:rPr>
              <a:t>~1000 nt — confirms implementation scales to real-world inputs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2724658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• High-similarity regime:  </a:t>
            </a:r>
            <a:r>
              <a:rPr lang="en-US" sz="1050" dirty="0">
                <a:solidFill>
                  <a:srgbClr val="64748B"/>
                </a:solidFill>
              </a:rPr>
              <a:t>NW ≈ SW at &gt;97% identity — global/local distinction irrelevant when signal fills entire sequence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154426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• Gap model impact:  </a:t>
            </a:r>
            <a:r>
              <a:rPr lang="en-US" sz="1050" dirty="0">
                <a:solidFill>
                  <a:srgbClr val="64748B"/>
                </a:solidFill>
              </a:rPr>
              <a:t>Omicron's indel load makes affine (Gotoh) score meaningfully higher than linear — real biological consequence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584194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• E-value:  </a:t>
            </a:r>
            <a:r>
              <a:rPr lang="en-US" sz="1050" dirty="0">
                <a:solidFill>
                  <a:srgbClr val="64748B"/>
                </a:solidFill>
              </a:rPr>
              <a:t>All alignments statistically significant (E-value ≪ 0.01) — not random matches</a:t>
            </a:r>
            <a:endParaRPr lang="en-US" sz="1050" dirty="0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2  ·  REAL-WORLD VALIDATION — SARS-CoV-2 SPIKE RBD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PART 3  ·  EFFICIENCY TESTING — TIMING BENCHMARK</a:t>
            </a:r>
            <a:endParaRPr lang="en-US" sz="1800" dirty="0"/>
          </a:p>
        </p:txBody>
      </p:sp>
      <p:pic>
        <p:nvPicPr>
          <p:cNvPr id="4" name="Image 0" descr="images/timing_metho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745490"/>
            <a:ext cx="5789295" cy="3759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458075" y="749935"/>
            <a:ext cx="774700" cy="347345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489190" y="768350"/>
            <a:ext cx="72580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n=200 (ms)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8263255" y="749935"/>
            <a:ext cx="774700" cy="347345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294370" y="768350"/>
            <a:ext cx="72580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n=1000 (ms)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8075" y="1115695"/>
            <a:ext cx="7747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89190" y="1170305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238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63255" y="1115695"/>
            <a:ext cx="7747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4370" y="1170305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3,284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58075" y="1591310"/>
            <a:ext cx="7747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9190" y="164592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86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63255" y="1591310"/>
            <a:ext cx="7747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94370" y="164592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2,422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458075" y="2066290"/>
            <a:ext cx="7747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89190" y="2121535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190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63255" y="2066290"/>
            <a:ext cx="7747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94370" y="2121535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5,380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458075" y="2541905"/>
            <a:ext cx="7747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9190" y="259715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230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263255" y="2541905"/>
            <a:ext cx="7747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94370" y="259715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6,134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458075" y="3017520"/>
            <a:ext cx="7747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89190" y="307213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5,315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263255" y="3017520"/>
            <a:ext cx="7747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94370" y="307213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—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458075" y="3493135"/>
            <a:ext cx="7747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89190" y="3547745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5,235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8263255" y="3493135"/>
            <a:ext cx="7747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294370" y="3547745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—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458075" y="3968750"/>
            <a:ext cx="7747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489190" y="402336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</a:rPr>
              <a:t>0.5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8263255" y="3968750"/>
            <a:ext cx="77470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294370" y="4023360"/>
            <a:ext cx="725805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</a:rPr>
              <a:t>9</a:t>
            </a:r>
            <a:endParaRPr lang="en-US" sz="950" dirty="0"/>
          </a:p>
        </p:txBody>
      </p:sp>
      <p:sp>
        <p:nvSpPr>
          <p:cNvPr id="23" name="Shape 2"/>
          <p:cNvSpPr/>
          <p:nvPr/>
        </p:nvSpPr>
        <p:spPr>
          <a:xfrm>
            <a:off x="6116955" y="749935"/>
            <a:ext cx="1297305" cy="347345"/>
          </a:xfrm>
          <a:prstGeom prst="rect">
            <a:avLst/>
          </a:prstGeom>
          <a:solidFill>
            <a:srgbClr val="0D1B2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3"/>
          <p:cNvSpPr/>
          <p:nvPr/>
        </p:nvSpPr>
        <p:spPr>
          <a:xfrm>
            <a:off x="6140450" y="768350"/>
            <a:ext cx="125603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6116955" y="1115695"/>
            <a:ext cx="129730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6140450" y="1170305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NW (linear)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16955" y="1591310"/>
            <a:ext cx="1297305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0450" y="1645920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SW (linear)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16955" y="2066290"/>
            <a:ext cx="129730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0450" y="2121535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Gotoh-NW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16955" y="2541905"/>
            <a:ext cx="1297305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40450" y="2597150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Gotoh-SW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116955" y="3017520"/>
            <a:ext cx="1297305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40450" y="3072130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General-NW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116955" y="3493135"/>
            <a:ext cx="1297305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40450" y="3547745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General-SW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116955" y="3968750"/>
            <a:ext cx="1297305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40450" y="4023360"/>
            <a:ext cx="125603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</a:rPr>
              <a:t>Biopython</a:t>
            </a:r>
            <a:endParaRPr lang="en-US" sz="950" dirty="0"/>
          </a:p>
        </p:txBody>
      </p:sp>
      <p:sp>
        <p:nvSpPr>
          <p:cNvPr id="27" name="文本框 26"/>
          <p:cNvSpPr txBox="1"/>
          <p:nvPr/>
        </p:nvSpPr>
        <p:spPr>
          <a:xfrm>
            <a:off x="215265" y="4649470"/>
            <a:ext cx="567626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sym typeface="+mn-ea"/>
              </a:rPr>
              <a:t>Same O(mn) algorithm: pure Python ~300× slower than C — constant factors dominate real use</a:t>
            </a:r>
            <a:endParaRPr lang="en-US" altLang="en-US" sz="10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15" y="4600575"/>
            <a:ext cx="1792605" cy="3435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CONCLUSIONS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1B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What We Found</a:t>
            </a:r>
            <a:endParaRPr lang="en-US" sz="13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365760" y="1207008"/>
            <a:ext cx="4206240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02920" y="12618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NW vs SW</a:t>
            </a:r>
            <a:endParaRPr lang="en-US" sz="11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502920" y="153619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NW guarantees full-length alignment; SW ignores low-scoring flanks — choose based on biological question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365760" y="2167128"/>
            <a:ext cx="4206240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502920" y="22219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Gap model matters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502920" y="249631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Affine (Gotoh) handles real indels better; general-gap is O(n³) and impractical beyond n≈200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365760" y="3127248"/>
            <a:ext cx="4206240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502920" y="318211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SW ≥ NW always</a:t>
            </a:r>
            <a:endParaRPr lang="en-US" sz="11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502920" y="345643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Proven theorem — confirmed across all 350 synthetic pairs (0 violations)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365760" y="4087368"/>
            <a:ext cx="4206240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02920" y="41422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Implementation cost</a:t>
            </a:r>
            <a:endParaRPr lang="en-US" sz="11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502920" y="4416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Same O(mn) algorithm: pure Python ~300× slower than C — constant factors dominate real 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80467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Limitations &amp; Future Work</a:t>
            </a:r>
            <a:endParaRPr lang="en-US" sz="13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4937760" y="1207135"/>
            <a:ext cx="4060190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5074920" y="12618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Space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5074920" y="153619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Full O(mn) matrix stored — Hirschberg could reduce to O(min(m,n)) for large inputs</a:t>
            </a:r>
            <a:endParaRPr lang="en-US" sz="10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4937760" y="2167255"/>
            <a:ext cx="4044315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5074920" y="222199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Python speed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5074920" y="249631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Pure Python is too slow for genome-scale (&gt;10K nt); would need NumPy/Cython optimisation</a:t>
            </a:r>
            <a:endParaRPr lang="en-US" sz="10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4937760" y="3127375"/>
            <a:ext cx="4068445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5074920" y="318211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Scoring matrix</a:t>
            </a: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5074920" y="345643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Used simple match/mismatch; real tools use BLOSUM/PAM substitution matrices</a:t>
            </a:r>
            <a:endParaRPr lang="en-US" sz="1000" dirty="0"/>
          </a:p>
        </p:txBody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4937760" y="4087495"/>
            <a:ext cx="4075430" cy="868680"/>
          </a:xfrm>
          <a:prstGeom prst="rect">
            <a:avLst/>
          </a:prstGeom>
          <a:solidFill>
            <a:srgbClr val="122333"/>
          </a:solidFill>
          <a:ln w="12700">
            <a:solidFill>
              <a:srgbClr val="1B7F8E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5074920" y="41422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E-Value</a:t>
            </a:r>
            <a:endParaRPr lang="en-US" sz="1100" dirty="0"/>
          </a:p>
        </p:txBody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5074920" y="4416552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chemeClr val="bg1"/>
                </a:solidFill>
              </a:rPr>
              <a:t>Karlin-Altschul E-value statistics assume uniform base frequencies; robustness under non-uniform distributions was not tested</a:t>
            </a:r>
            <a:endParaRPr lang="en-US" altLang="zh-C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Text 29"/>
          <p:cNvSpPr/>
          <p:nvPr/>
        </p:nvSpPr>
        <p:spPr>
          <a:xfrm>
            <a:off x="2842260" y="23806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Thank you!</a:t>
            </a:r>
            <a:endParaRPr lang="en-US" sz="2800" b="1" dirty="0">
              <a:solidFill>
                <a:srgbClr val="02C39A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DIAGRAM_VIRTUALLY_FRAME" val="{&quot;height&quot;:303.84000000000003,&quot;left&quot;:14.4,&quot;top&quot;:70.56,&quot;width&quot;:691.2}"/>
</p:tagLst>
</file>

<file path=ppt/tags/tag19.xml><?xml version="1.0" encoding="utf-8"?>
<p:tagLst xmlns:p="http://schemas.openxmlformats.org/presentationml/2006/main">
  <p:tag name="KSO_WM_DIAGRAM_VIRTUALLY_FRAME" val="{&quot;height&quot;:303.84000000000003,&quot;left&quot;:14.4,&quot;top&quot;:70.56,&quot;width&quot;:691.2}"/>
</p:tagLst>
</file>

<file path=ppt/tags/tag20.xml><?xml version="1.0" encoding="utf-8"?>
<p:tagLst xmlns:p="http://schemas.openxmlformats.org/presentationml/2006/main">
  <p:tag name="KSO_WM_DIAGRAM_VIRTUALLY_FRAME" val="{&quot;height&quot;:303.84000000000003,&quot;left&quot;:14.4,&quot;top&quot;:70.56,&quot;width&quot;:691.2}"/>
</p:tagLst>
</file>

<file path=ppt/tags/tag21.xml><?xml version="1.0" encoding="utf-8"?>
<p:tagLst xmlns:p="http://schemas.openxmlformats.org/presentationml/2006/main">
  <p:tag name="KSO_WM_DIAGRAM_VIRTUALLY_FRAME" val="{&quot;height&quot;:303.84000000000003,&quot;left&quot;:14.4,&quot;top&quot;:70.56,&quot;width&quot;:691.2}"/>
</p:tagLst>
</file>

<file path=ppt/tags/tag22.xml><?xml version="1.0" encoding="utf-8"?>
<p:tagLst xmlns:p="http://schemas.openxmlformats.org/presentationml/2006/main">
  <p:tag name="KSO_WM_DIAGRAM_VIRTUALLY_FRAME" val="{&quot;height&quot;:303.84000000000003,&quot;left&quot;:14.4,&quot;top&quot;:70.56,&quot;width&quot;:691.2}"/>
</p:tagLst>
</file>

<file path=ppt/tags/tag23.xml><?xml version="1.0" encoding="utf-8"?>
<p:tagLst xmlns:p="http://schemas.openxmlformats.org/presentationml/2006/main">
  <p:tag name="KSO_WM_DIAGRAM_VIRTUALLY_FRAME" val="{&quot;height&quot;:303.84000000000003,&quot;left&quot;:14.4,&quot;top&quot;:70.56,&quot;width&quot;:691.2}"/>
</p:tagLst>
</file>

<file path=ppt/tags/tag24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25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26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27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28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29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0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1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2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3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4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5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6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7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8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39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40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41.xml><?xml version="1.0" encoding="utf-8"?>
<p:tagLst xmlns:p="http://schemas.openxmlformats.org/presentationml/2006/main">
  <p:tag name="KSO_WM_DIAGRAM_VIRTUALLY_FRAME" val="{&quot;height&quot;:306.00000000000006,&quot;left&quot;:21.6,&quot;top&quot;:73.44,&quot;width&quot;:676.8}"/>
</p:tagLst>
</file>

<file path=ppt/tags/tag42.xml><?xml version="1.0" encoding="utf-8"?>
<p:tagLst xmlns:p="http://schemas.openxmlformats.org/presentationml/2006/main">
  <p:tag name="KSO_WM_DIAGRAM_VIRTUALLY_FRAME" val="{&quot;height&quot;:294.47999999999996,&quot;left&quot;:13.5,&quot;top&quot;:69.84,&quot;width&quot;:692.1}"/>
</p:tagLst>
</file>

<file path=ppt/tags/tag43.xml><?xml version="1.0" encoding="utf-8"?>
<p:tagLst xmlns:p="http://schemas.openxmlformats.org/presentationml/2006/main">
  <p:tag name="KSO_WM_DIAGRAM_VIRTUALLY_FRAME" val="{&quot;height&quot;:294.47999999999996,&quot;left&quot;:13.5,&quot;top&quot;:69.84,&quot;width&quot;:692.1}"/>
</p:tagLst>
</file>

<file path=ppt/tags/tag44.xml><?xml version="1.0" encoding="utf-8"?>
<p:tagLst xmlns:p="http://schemas.openxmlformats.org/presentationml/2006/main">
  <p:tag name="KSO_WM_DIAGRAM_VIRTUALLY_FRAME" val="{&quot;height&quot;:294.47999999999996,&quot;left&quot;:13.5,&quot;top&quot;:69.84,&quot;width&quot;:692.1}"/>
</p:tagLst>
</file>

<file path=ppt/tags/tag45.xml><?xml version="1.0" encoding="utf-8"?>
<p:tagLst xmlns:p="http://schemas.openxmlformats.org/presentationml/2006/main">
  <p:tag name="KSO_WM_DIAGRAM_VIRTUALLY_FRAME" val="{&quot;height&quot;:294.47999999999996,&quot;left&quot;:13.5,&quot;top&quot;:69.84,&quot;width&quot;:692.1}"/>
</p:tagLst>
</file>

<file path=ppt/tags/tag46.xml><?xml version="1.0" encoding="utf-8"?>
<p:tagLst xmlns:p="http://schemas.openxmlformats.org/presentationml/2006/main">
  <p:tag name="KSO_WM_DIAGRAM_VIRTUALLY_FRAME" val="{&quot;height&quot;:294.47999999999996,&quot;left&quot;:13.5,&quot;top&quot;:69.84,&quot;width&quot;:692.1}"/>
</p:tagLst>
</file>

<file path=ppt/tags/tag47.xml><?xml version="1.0" encoding="utf-8"?>
<p:tagLst xmlns:p="http://schemas.openxmlformats.org/presentationml/2006/main">
  <p:tag name="KSO_WM_DIAGRAM_VIRTUALLY_FRAME" val="{&quot;height&quot;:294.47999999999996,&quot;left&quot;:13.5,&quot;top&quot;:69.84,&quot;width&quot;:692.1}"/>
</p:tagLst>
</file>

<file path=ppt/tags/tag48.xml><?xml version="1.0" encoding="utf-8"?>
<p:tagLst xmlns:p="http://schemas.openxmlformats.org/presentationml/2006/main">
  <p:tag name="KSO_WM_DIAGRAM_VIRTUALLY_FRAME" val="{&quot;height&quot;:294.51,&quot;left&quot;:14.4,&quot;top&quot;:69.84,&quot;width&quot;:691.2}"/>
</p:tagLst>
</file>

<file path=ppt/tags/tag49.xml><?xml version="1.0" encoding="utf-8"?>
<p:tagLst xmlns:p="http://schemas.openxmlformats.org/presentationml/2006/main">
  <p:tag name="KSO_WM_DIAGRAM_VIRTUALLY_FRAME" val="{&quot;height&quot;:294.51,&quot;left&quot;:14.4,&quot;top&quot;:69.84,&quot;width&quot;:691.2}"/>
</p:tagLst>
</file>

<file path=ppt/tags/tag50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1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2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3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4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5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6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7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8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59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0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1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2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3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4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5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6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7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8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69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0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1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2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3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4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5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6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7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8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79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0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1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2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3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4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5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6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7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8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89.xml><?xml version="1.0" encoding="utf-8"?>
<p:tagLst xmlns:p="http://schemas.openxmlformats.org/presentationml/2006/main">
  <p:tag name="KSO_WM_DIAGRAM_VIRTUALLY_FRAME" val="{&quot;height&quot;:72,&quot;left&quot;:18,&quot;top&quot;:298.8,&quot;width&quot;:686.8799999999999}"/>
</p:tagLst>
</file>

<file path=ppt/tags/tag90.xml><?xml version="1.0" encoding="utf-8"?>
<p:tagLst xmlns:p="http://schemas.openxmlformats.org/presentationml/2006/main">
  <p:tag name="TABLE_ENDDRAG_ORIGIN_RECT" val="672*97"/>
  <p:tag name="TABLE_ENDDRAG_RECT" val="26*81*672*97"/>
</p:tagLst>
</file>

<file path=ppt/tags/tag91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2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3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4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5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6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7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8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99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0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1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2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3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4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5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6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7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8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09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10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11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12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13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ags/tag114.xml><?xml version="1.0" encoding="utf-8"?>
<p:tagLst xmlns:p="http://schemas.openxmlformats.org/presentationml/2006/main">
  <p:tag name="KSO_WM_DIAGRAM_VIRTUALLY_FRAME" val="{&quot;height&quot;:295.21000000000004,&quot;left&quot;:28.8,&quot;top&quot;:95.03999999999999,&quot;width&quot;:69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9188</Words>
  <Application>WPS 演示</Application>
  <PresentationFormat>On-screen Show (16:9)</PresentationFormat>
  <Paragraphs>1019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Consolas</vt:lpstr>
      <vt:lpstr>Consolas</vt:lpstr>
      <vt:lpstr>Consolas</vt:lpstr>
      <vt:lpstr>Times New Roman</vt:lpstr>
      <vt:lpstr>Helvetica</vt:lpstr>
      <vt:lpstr>Calibri</vt:lpstr>
      <vt:lpstr>Arial Unicode MS</vt:lpstr>
      <vt:lpstr>等线</vt:lpstr>
      <vt:lpstr>Calibri</vt:lpstr>
      <vt:lpstr>Calibri</vt:lpstr>
      <vt:lpstr>Anthropic Sans</vt:lpstr>
      <vt:lpstr>ksdb</vt:lpstr>
      <vt:lpstr>MS PGothic</vt:lpstr>
      <vt:lpstr>Anthropic Sans</vt:lpstr>
      <vt:lpstr>Helvetica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Sequence Alignment</dc:title>
  <dc:creator>PptxGenJS</dc:creator>
  <dc:subject>PptxGenJS Presentation</dc:subject>
  <cp:lastModifiedBy>H.M</cp:lastModifiedBy>
  <cp:revision>8</cp:revision>
  <dcterms:created xsi:type="dcterms:W3CDTF">2026-04-15T05:58:00Z</dcterms:created>
  <dcterms:modified xsi:type="dcterms:W3CDTF">2026-04-18T06:20:43Z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28DE0C2FDAE640D087EBE82341918ADD_13</vt:lpwstr>
  </property>
  <property fmtid="{D5CDD505-2E9C-101B-9397-08002B2CF9AE}" pid="3" name="KSOProductBuildVer">
    <vt:lpwstr>2052-12.1.0.25865</vt:lpwstr>
  </property>
</Properties>
</file>